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ecede13ee7c45de" /><Relationship Type="http://schemas.openxmlformats.org/package/2006/relationships/metadata/core-properties" Target="/docProps/core.xml" Id="Rb2762e1a6eab497b" /><Relationship Type="http://schemas.openxmlformats.org/officeDocument/2006/relationships/extended-properties" Target="/docProps/app.xml" Id="R6d4e9537d6d44b56" /><Relationship Type="http://schemas.openxmlformats.org/officeDocument/2006/relationships/custom-properties" Target="/docProps/custom.xml" Id="R6b84dec13dc7482c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d4d1b6ec28a74753"/>
  </p:sldMasterIdLst>
  <p:sldIdLst>
    <p:sldId id="256" r:id="Re262e022d944440d"/>
    <p:sldId id="257" r:id="R764b2575f8d649d5"/>
    <p:sldId id="258" r:id="Rdfd1d070e1774cb7"/>
    <p:sldId id="259" r:id="Rd04c93e36bf1418b"/>
    <p:sldId id="260" r:id="Rc398ad35afa04bfd"/>
    <p:sldId id="261" r:id="Re0d8bb16c81841c2"/>
    <p:sldId id="262" r:id="R51d229620252461e"/>
    <p:sldId id="263" r:id="R4ee28ee1c2314d67"/>
    <p:sldId id="264" r:id="Ra48a4264fc014911"/>
    <p:sldId id="265" r:id="Rbcea5ecb67764944"/>
    <p:sldId id="266" r:id="R8cebc504ed0e4669"/>
    <p:sldId id="267" r:id="R3b67db74fc0f4802"/>
    <p:sldId id="268" r:id="R1c65f9045eda4d7c"/>
    <p:sldId id="269" r:id="R51ab7f588a1b4fff"/>
    <p:sldId id="270" r:id="Red3da9fda64a47d1"/>
    <p:sldId id="271" r:id="Ra0fabd97fcd64a5b"/>
    <p:sldId id="272" r:id="R287abc2a97f445b4"/>
    <p:sldId id="273" r:id="R630876e61b9f41a9"/>
    <p:sldId id="274" r:id="R4835a474866e494e"/>
    <p:sldId id="275" r:id="Rde67347e57da4d54"/>
    <p:sldId id="276" r:id="R791558835b104d5d"/>
    <p:sldId id="277" r:id="Re09b0493cb9445a9"/>
    <p:sldId id="278" r:id="R4de20a25d5d741b6"/>
    <p:sldId id="279" r:id="Rb9e55f3b09a64ab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a48be1d081ff4367" /><Relationship Type="http://schemas.openxmlformats.org/officeDocument/2006/relationships/viewProps" Target="/ppt/viewProps.xml" Id="R9d17a16286f1400d" /><Relationship Type="http://schemas.openxmlformats.org/officeDocument/2006/relationships/slideMaster" Target="/ppt/slideMasters/slideMaster1.xml" Id="Rd4d1b6ec28a74753" /><Relationship Type="http://schemas.openxmlformats.org/officeDocument/2006/relationships/theme" Target="/ppt/slideMasters/theme/theme1.xml" Id="Rf0c46345a9fc48af" /><Relationship Type="http://schemas.openxmlformats.org/officeDocument/2006/relationships/slide" Target="/ppt/slides/slide1.xml" Id="Re262e022d944440d" /><Relationship Type="http://schemas.openxmlformats.org/officeDocument/2006/relationships/slide" Target="/ppt/slides/slide2.xml" Id="R764b2575f8d649d5" /><Relationship Type="http://schemas.openxmlformats.org/officeDocument/2006/relationships/slide" Target="/ppt/slides/slide3.xml" Id="Rdfd1d070e1774cb7" /><Relationship Type="http://schemas.openxmlformats.org/officeDocument/2006/relationships/slide" Target="/ppt/slides/slide4.xml" Id="Rd04c93e36bf1418b" /><Relationship Type="http://schemas.openxmlformats.org/officeDocument/2006/relationships/slide" Target="/ppt/slides/slide5.xml" Id="Rc398ad35afa04bfd" /><Relationship Type="http://schemas.openxmlformats.org/officeDocument/2006/relationships/slide" Target="/ppt/slides/slide6.xml" Id="Re0d8bb16c81841c2" /><Relationship Type="http://schemas.openxmlformats.org/officeDocument/2006/relationships/slide" Target="/ppt/slides/slide7.xml" Id="R51d229620252461e" /><Relationship Type="http://schemas.openxmlformats.org/officeDocument/2006/relationships/slide" Target="/ppt/slides/slide8.xml" Id="R4ee28ee1c2314d67" /><Relationship Type="http://schemas.openxmlformats.org/officeDocument/2006/relationships/slide" Target="/ppt/slides/slide9.xml" Id="Ra48a4264fc014911" /><Relationship Type="http://schemas.openxmlformats.org/officeDocument/2006/relationships/slide" Target="/ppt/slides/slide10.xml" Id="Rbcea5ecb67764944" /><Relationship Type="http://schemas.openxmlformats.org/officeDocument/2006/relationships/slide" Target="/ppt/slides/slide11.xml" Id="R8cebc504ed0e4669" /><Relationship Type="http://schemas.openxmlformats.org/officeDocument/2006/relationships/slide" Target="/ppt/slides/slide12.xml" Id="R3b67db74fc0f4802" /><Relationship Type="http://schemas.openxmlformats.org/officeDocument/2006/relationships/slide" Target="/ppt/slides/slide13.xml" Id="R1c65f9045eda4d7c" /><Relationship Type="http://schemas.openxmlformats.org/officeDocument/2006/relationships/slide" Target="/ppt/slides/slide14.xml" Id="R51ab7f588a1b4fff" /><Relationship Type="http://schemas.openxmlformats.org/officeDocument/2006/relationships/slide" Target="/ppt/slides/slide15.xml" Id="Red3da9fda64a47d1" /><Relationship Type="http://schemas.openxmlformats.org/officeDocument/2006/relationships/slide" Target="/ppt/slides/slide16.xml" Id="Ra0fabd97fcd64a5b" /><Relationship Type="http://schemas.openxmlformats.org/officeDocument/2006/relationships/slide" Target="/ppt/slides/slide17.xml" Id="R287abc2a97f445b4" /><Relationship Type="http://schemas.openxmlformats.org/officeDocument/2006/relationships/slide" Target="/ppt/slides/slide18.xml" Id="R630876e61b9f41a9" /><Relationship Type="http://schemas.openxmlformats.org/officeDocument/2006/relationships/slide" Target="/ppt/slides/slide19.xml" Id="R4835a474866e494e" /><Relationship Type="http://schemas.openxmlformats.org/officeDocument/2006/relationships/slide" Target="/ppt/slides/slide20.xml" Id="Rde67347e57da4d54" /><Relationship Type="http://schemas.openxmlformats.org/officeDocument/2006/relationships/slide" Target="/ppt/slides/slide21.xml" Id="R791558835b104d5d" /><Relationship Type="http://schemas.openxmlformats.org/officeDocument/2006/relationships/slide" Target="/ppt/slides/slide22.xml" Id="Re09b0493cb9445a9" /><Relationship Type="http://schemas.openxmlformats.org/officeDocument/2006/relationships/slide" Target="/ppt/slides/slide23.xml" Id="R4de20a25d5d741b6" /><Relationship Type="http://schemas.openxmlformats.org/officeDocument/2006/relationships/slide" Target="/ppt/slides/slide24.xml" Id="Rb9e55f3b09a64a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7c76679c94c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766c28adf47f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e7cbc59b94127" /></Relationships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ea1ad6526ce44ad" /><Relationship Type="http://schemas.openxmlformats.org/officeDocument/2006/relationships/image" Target="/ppt/media/image2.png" Id="R560fa046c1a74589" /><Relationship Type="http://schemas.openxmlformats.org/officeDocument/2006/relationships/image" Target="/ppt/media/image3.png" Id="R6456c52b3eea4468" /><Relationship Type="http://schemas.microsoft.com/office/2007/relationships/hdphoto" Target="/ppt/slideMasters/udata/data.wdp" Id="R0157a0725ce948e9" /><Relationship Type="http://schemas.microsoft.com/office/2007/relationships/hdphoto" Target="/ppt/slideMasters/udata/data2.wdp" Id="R45c6ed62bc164599" /><Relationship Type="http://schemas.openxmlformats.org/officeDocument/2006/relationships/theme" Target="/ppt/slideMasters/theme/theme1.xml" Id="R311c7118ddbf4238" /><Relationship Type="http://schemas.openxmlformats.org/officeDocument/2006/relationships/slideLayout" Target="/ppt/slideLayouts/slideLayout4.xml" Id="R272d7e9583b947a1" /><Relationship Type="http://schemas.openxmlformats.org/officeDocument/2006/relationships/slideLayout" Target="/ppt/slideLayouts/slideLayout5.xml" Id="R85ca086362274e77" /><Relationship Type="http://schemas.openxmlformats.org/officeDocument/2006/relationships/slideLayout" Target="/ppt/slideLayouts/slideLayout12.xml" Id="R87b65d4cff1c4cae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bea1ad6526ce44a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560fa046c1a74589">
            <a:extLst>
              <a:ext uri="{BEBA8EAE-BF5A-486C-A8C5-ECC9F3942E4B}">
                <a14:imgProps xmlns:a14="http://schemas.microsoft.com/office/drawing/2010/main">
                  <a14:imgLayer r:embed="R0157a0725ce948e9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6456c52b3eea4468">
            <a:extLst>
              <a:ext uri="{BEBA8EAE-BF5A-486C-A8C5-ECC9F3942E4B}">
                <a14:imgProps xmlns:a14="http://schemas.microsoft.com/office/drawing/2010/main">
                  <a14:imgLayer r:embed="R45c6ed62bc16459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272d7e9583b947a1"/>
    <p:sldLayoutId id="2147483653" r:id="R85ca086362274e77"/>
    <p:sldLayoutId id="2147483660" r:id="R87b65d4cff1c4cae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c0404fcabc8f4a75" /><Relationship Type="http://schemas.openxmlformats.org/officeDocument/2006/relationships/image" Target="/ppt/media/image5.png" Id="R7fb653caebd4426b" /><Relationship Type="http://schemas.openxmlformats.org/officeDocument/2006/relationships/slideLayout" Target="/ppt/slideLayouts/slideLayout5.xml" Id="Rfdb274ffdc3d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ba28715d9a5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a2e8ac1da144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714815c0024a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03107782b8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c38c1bb2fa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0cc1c3051f46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1670e533b446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1157b47c52149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d1ce770f6924a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d26036f33c94a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ecc2df4a0824d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fce54ca09b4a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765a6cf2c4f4f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3da5942a9e343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4.png" Id="R2df091ecb8634d72" /><Relationship Type="http://schemas.openxmlformats.org/officeDocument/2006/relationships/image" Target="/ppt/media/image5.png" Id="R8f1a273986c0479f" /><Relationship Type="http://schemas.openxmlformats.org/officeDocument/2006/relationships/slideLayout" Target="/ppt/slideLayouts/slideLayout5.xml" Id="Rc5e84c0a5ef64d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0a5e46447b44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ceb16d3aa34b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2ba742a31f4d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a8cfe0510d479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04e8139abe4e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b955f0c84545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b58e0ede3841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c1c5a58a494817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c0404fcabc8f4a75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1005840"/>
            <a:ext cx="1097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Project 01</a:t>
            </a:r>
          </a:p>
          <a:p>
            <a:pPr algn="ctr"/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Adaptive Enterprise Knowledge Assistant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</a:rPr>
              <a:t>using Hybrid RAG, Role-Aware Retrieval and Hallucination Detection</a:t>
            </a:r>
          </a:p>
          <a:p>
            <a:pPr algn="ctr"/>
            <a:endParaRPr lang="en-GB" sz="3600" b="1" dirty="0"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1678" y="3307388"/>
            <a:ext cx="10241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Team Member: Sushma P</a:t>
            </a:r>
            <a:br>
              <a:rPr sz="28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GB" sz="2800" b="1" dirty="0">
                <a:solidFill>
                  <a:schemeClr val="accent5">
                    <a:lumMod val="50000"/>
                  </a:schemeClr>
                </a:solidFill>
              </a:rPr>
              <a:t>T9936</a:t>
            </a:r>
            <a:endParaRPr sz="28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3FECF4-47A9-483B-1CC4-164E142FA2F9}"/>
              </a:ext>
            </a:extLst>
          </p:cNvPr>
          <p:cNvPicPr>
            <a:picLocks noChangeAspect="1"/>
          </p:cNvPicPr>
          <p:nvPr/>
        </p:nvPicPr>
        <p:blipFill>
          <a:blip r:embed="R7fb653caebd4426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8300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240513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Enterprise organizations maintain policies, guidelines and technical documents across multiple sources. Employees need a fast and reliable way to find relevant information. A conventional LLM chatbot can generate unsupported information and may not respect role-based access requirements.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This project develops an enterprise knowledge assistant that retrieves evidence before generating an answer, applies role-aware filtering, and verifies the response against retrieved evidence.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545425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11975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Develop an enterprise knowledge assistant using Retrieval-Augmented Generation (RAG).</a:t>
            </a:r>
            <a:br>
              <a:rPr dirty="0"/>
            </a:br>
            <a:r>
              <a:rPr sz="2800" b="0" dirty="0">
                <a:latin typeface="Calibri"/>
              </a:rPr>
              <a:t>• Combine BM25 keyword retrieval with FAISS semantic retrieval.</a:t>
            </a:r>
            <a:br>
              <a:rPr dirty="0"/>
            </a:br>
            <a:r>
              <a:rPr sz="2800" b="0" dirty="0">
                <a:latin typeface="Calibri"/>
              </a:rPr>
              <a:t>• Apply role-aware filtering before context reaches the LLM.</a:t>
            </a:r>
            <a:br>
              <a:rPr dirty="0"/>
            </a:br>
            <a:r>
              <a:rPr sz="2800" b="0" dirty="0">
                <a:latin typeface="Calibri"/>
              </a:rPr>
              <a:t>• Reduce unsupported responses through evidence-based verification.</a:t>
            </a:r>
            <a:br>
              <a:rPr dirty="0"/>
            </a:br>
            <a:r>
              <a:rPr sz="2800" b="0" dirty="0">
                <a:latin typeface="Calibri"/>
              </a:rPr>
              <a:t>• Provide answers with sources through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and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.</a:t>
            </a:r>
            <a:br>
              <a:rPr dirty="0"/>
            </a:br>
            <a:r>
              <a:rPr sz="2800" b="0" dirty="0">
                <a:latin typeface="Calibri"/>
              </a:rPr>
              <a:t>• Containerize the application with Docker.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777" y="1404257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TXT and PDF enterprise knowledge documents.</a:t>
            </a:r>
            <a:br>
              <a:rPr dirty="0"/>
            </a:br>
            <a:r>
              <a:rPr sz="2800" b="0" dirty="0">
                <a:latin typeface="Calibri"/>
              </a:rPr>
              <a:t>• Metadata-aware ingestion and chunking.</a:t>
            </a:r>
            <a:br>
              <a:rPr dirty="0"/>
            </a:br>
            <a:r>
              <a:rPr sz="2800" b="0" dirty="0">
                <a:latin typeface="Calibri"/>
              </a:rPr>
              <a:t>• Hybrid keyword + semantic retrieval.</a:t>
            </a:r>
            <a:br>
              <a:rPr dirty="0"/>
            </a:br>
            <a:r>
              <a:rPr sz="2800" b="0" dirty="0">
                <a:latin typeface="Calibri"/>
              </a:rPr>
              <a:t>• Employee, Manager, HR, IT and Admin roles.</a:t>
            </a:r>
            <a:br>
              <a:rPr dirty="0"/>
            </a:br>
            <a:r>
              <a:rPr sz="2800" b="0" dirty="0">
                <a:latin typeface="Calibri"/>
              </a:rPr>
              <a:t>• Evidence-supported answer generation.</a:t>
            </a:r>
            <a:br>
              <a:rPr dirty="0"/>
            </a:br>
            <a:r>
              <a:rPr sz="2800" b="0" dirty="0">
                <a:latin typeface="Calibri"/>
              </a:rPr>
              <a:t>• API, dashboard, testing and </a:t>
            </a:r>
            <a:r>
              <a:rPr sz="2800" b="0" dirty="0" err="1">
                <a:latin typeface="Calibri"/>
              </a:rPr>
              <a:t>Dockerization</a:t>
            </a:r>
            <a:r>
              <a:rPr sz="2800" b="0" dirty="0">
                <a:latin typeface="Calibri"/>
              </a:rPr>
              <a:t>.</a:t>
            </a:r>
            <a:br>
              <a:rPr dirty="0"/>
            </a:br>
            <a:r>
              <a:rPr sz="2800" b="0" dirty="0">
                <a:latin typeface="Calibri"/>
              </a:rPr>
              <a:t>• CI/CD is planned as the next implementation stage.</a:t>
            </a: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60731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Retrieval-Augmented Generation: retrieve evidence and use it as LLM context.</a:t>
            </a:r>
            <a:br>
              <a:rPr dirty="0"/>
            </a:br>
            <a:r>
              <a:rPr sz="2800" b="0" dirty="0">
                <a:latin typeface="Calibri"/>
              </a:rPr>
              <a:t>• BM25: lexical retrieval for exact terms and identifiers.</a:t>
            </a:r>
            <a:br>
              <a:rPr dirty="0"/>
            </a:br>
            <a:r>
              <a:rPr sz="2800" b="0" dirty="0">
                <a:latin typeface="Calibri"/>
              </a:rPr>
              <a:t>• Dense retrieval: semantic matching using embeddings.</a:t>
            </a:r>
            <a:br>
              <a:rPr dirty="0"/>
            </a:br>
            <a:r>
              <a:rPr sz="2800" b="0" dirty="0">
                <a:latin typeface="Calibri"/>
              </a:rPr>
              <a:t>• FAISS: efficient vector similarity search.</a:t>
            </a:r>
            <a:br>
              <a:rPr dirty="0"/>
            </a:br>
            <a:r>
              <a:rPr sz="2800" b="0" dirty="0">
                <a:latin typeface="Calibri"/>
              </a:rPr>
              <a:t>• Role-based access control: restrict information according to permissions.</a:t>
            </a:r>
            <a:br>
              <a:rPr dirty="0"/>
            </a:br>
            <a:r>
              <a:rPr sz="2800" b="0" dirty="0">
                <a:latin typeface="Calibri"/>
              </a:rPr>
              <a:t>• Evidence-grounded generation: reduce hallucination risk by checking answers against evidence.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7680" y="521047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Summary of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404257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BM25 provides lexical matching while dense retrieval handles semantic similarity. RAG supplies external evidence to the generator, access control is important for enterprise data, and evidence verification provides a post-generation safeguard.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Project contribution: integration of hybrid retrieval, role-aware filtering and evidence verification in one enterprise assistant.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Additional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60715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Current corpus: 14 files</a:t>
            </a:r>
            <a:br>
              <a:rPr dirty="0"/>
            </a:br>
            <a:r>
              <a:rPr sz="2800" b="0" dirty="0">
                <a:latin typeface="Calibri"/>
              </a:rPr>
              <a:t>• 3 synthetic internal TXT policies</a:t>
            </a:r>
            <a:br>
              <a:rPr dirty="0"/>
            </a:br>
            <a:r>
              <a:rPr sz="2800" b="0" dirty="0">
                <a:latin typeface="Calibri"/>
              </a:rPr>
              <a:t>• 11 public PDF policy documents</a:t>
            </a:r>
            <a:br>
              <a:rPr dirty="0"/>
            </a:br>
            <a:r>
              <a:rPr sz="2800" b="0" dirty="0">
                <a:latin typeface="Calibri"/>
              </a:rPr>
              <a:t>• 83 non-empty document/page records after extraction</a:t>
            </a:r>
            <a:br>
              <a:rPr dirty="0"/>
            </a:br>
            <a:r>
              <a:rPr sz="2800" b="0" dirty="0">
                <a:latin typeface="Calibri"/>
              </a:rPr>
              <a:t>• 404 chunks after preprocessing</a:t>
            </a:r>
            <a:br>
              <a:rPr dirty="0"/>
            </a:br>
            <a:r>
              <a:rPr sz="2800" b="0" dirty="0">
                <a:latin typeface="Calibri"/>
              </a:rPr>
              <a:t>• 398 public chunks + 6 restricted chunks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Stack: Python 3.11, </a:t>
            </a:r>
            <a:r>
              <a:rPr sz="2800" b="0" dirty="0" err="1">
                <a:latin typeface="Calibri"/>
              </a:rPr>
              <a:t>LangChain</a:t>
            </a:r>
            <a:r>
              <a:rPr sz="2800" b="0" dirty="0">
                <a:latin typeface="Calibri"/>
              </a:rPr>
              <a:t>, </a:t>
            </a:r>
            <a:r>
              <a:rPr sz="2800" b="0" dirty="0" err="1">
                <a:latin typeface="Calibri"/>
              </a:rPr>
              <a:t>Ollama</a:t>
            </a:r>
            <a:r>
              <a:rPr sz="2800" b="0" dirty="0">
                <a:latin typeface="Calibri"/>
              </a:rPr>
              <a:t>, Llama 3.2:3b, nomic-embed-text, FAISS, BM25,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,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, </a:t>
            </a:r>
            <a:r>
              <a:rPr sz="2800" b="0" dirty="0" err="1">
                <a:latin typeface="Calibri"/>
              </a:rPr>
              <a:t>PyTest</a:t>
            </a:r>
            <a:r>
              <a:rPr sz="2800" b="0" dirty="0">
                <a:latin typeface="Calibri"/>
              </a:rPr>
              <a:t> and Docker.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768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Modules to 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303" y="1560731"/>
            <a:ext cx="10607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Module 1 — Document Ingestion &amp; Preprocessing</a:t>
            </a:r>
            <a:br>
              <a:rPr sz="3200" dirty="0"/>
            </a:br>
            <a:r>
              <a:rPr sz="3200" b="0" dirty="0">
                <a:latin typeface="Calibri"/>
              </a:rPr>
              <a:t>Module 2 — Hybrid Retrieval</a:t>
            </a:r>
            <a:br>
              <a:rPr sz="3200" dirty="0"/>
            </a:br>
            <a:r>
              <a:rPr sz="3200" b="0" dirty="0">
                <a:latin typeface="Calibri"/>
              </a:rPr>
              <a:t>Module 3 — Role-Aware Filtering &amp; Reranking</a:t>
            </a:r>
            <a:br>
              <a:rPr sz="3200" dirty="0"/>
            </a:br>
            <a:r>
              <a:rPr sz="3200" b="0" dirty="0">
                <a:latin typeface="Calibri"/>
              </a:rPr>
              <a:t>Module 4 — RAG Generation &amp; Evidence Verification</a:t>
            </a:r>
            <a:br>
              <a:rPr sz="3200" dirty="0"/>
            </a:br>
            <a:r>
              <a:rPr sz="3200" b="0" dirty="0">
                <a:latin typeface="Calibri"/>
              </a:rPr>
              <a:t>Module 5 — </a:t>
            </a:r>
            <a:r>
              <a:rPr sz="3200" b="0" dirty="0" err="1">
                <a:latin typeface="Calibri"/>
              </a:rPr>
              <a:t>FastAPI</a:t>
            </a:r>
            <a:r>
              <a:rPr sz="3200" b="0" dirty="0">
                <a:latin typeface="Calibri"/>
              </a:rPr>
              <a:t> Backend &amp; </a:t>
            </a:r>
            <a:r>
              <a:rPr sz="3200" b="0" dirty="0" err="1">
                <a:latin typeface="Calibri"/>
              </a:rPr>
              <a:t>Streamlit</a:t>
            </a:r>
            <a:r>
              <a:rPr sz="3200" b="0" dirty="0">
                <a:latin typeface="Calibri"/>
              </a:rPr>
              <a:t> Dashboard</a:t>
            </a:r>
            <a:br>
              <a:rPr sz="3200" dirty="0"/>
            </a:br>
            <a:r>
              <a:rPr sz="3200" b="0" dirty="0">
                <a:latin typeface="Calibri"/>
              </a:rPr>
              <a:t>Module 6 — Testing, Evaluation &amp; </a:t>
            </a:r>
            <a:r>
              <a:rPr sz="3200" b="0" dirty="0" err="1">
                <a:latin typeface="Calibri"/>
              </a:rPr>
              <a:t>Dockerization</a:t>
            </a:r>
            <a:br>
              <a:rPr sz="3200" dirty="0"/>
            </a:br>
            <a:r>
              <a:rPr sz="3200" b="0" dirty="0">
                <a:latin typeface="Calibri"/>
              </a:rPr>
              <a:t>Next — CI/CD with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1 — Document Ingestion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44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Documents → </a:t>
            </a:r>
            <a:r>
              <a:rPr sz="3200" b="0" dirty="0" err="1">
                <a:latin typeface="Calibri"/>
              </a:rPr>
              <a:t>PyPDF</a:t>
            </a:r>
            <a:r>
              <a:rPr sz="3200" b="0" dirty="0">
                <a:latin typeface="Calibri"/>
              </a:rPr>
              <a:t>/TXT extraction → Metadata → Chunking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Metadata: source, organization, document type, page number, access type and allowed roles.</a:t>
            </a:r>
            <a:br>
              <a:rPr sz="3200" dirty="0"/>
            </a:br>
            <a:r>
              <a:rPr sz="3200" b="0" dirty="0">
                <a:latin typeface="Calibri"/>
              </a:rPr>
              <a:t>Chunking: ~500 characters with 100-character overlap.</a:t>
            </a:r>
            <a:br>
              <a:rPr sz="3200" dirty="0"/>
            </a:br>
            <a:r>
              <a:rPr sz="3200" b="0" dirty="0">
                <a:latin typeface="Calibri"/>
              </a:rPr>
              <a:t>Result: 404 chunks.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2 — Hybrid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Question → BM25 keyword search + Nomic embeddings/FAISS semantic search → score fusion.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BM25 handles exact terms and identifiers. Vector retrieval handles semantic similarity.</a:t>
            </a:r>
            <a:br>
              <a:rPr sz="3200" dirty="0"/>
            </a:br>
            <a:r>
              <a:rPr sz="3200" b="0" dirty="0">
                <a:latin typeface="Calibri"/>
              </a:rPr>
              <a:t>Hybrid score = α × normalized BM25 + (1−α) × normalized vector score. Current α = 0.5.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3 — Role-Aware Filtering &amp; Reranking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Retrieved results → role filter → authorized results → score-based reranking.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Public documents are available to all roles. Restricted documents are passed onward only when the user's role is allowed.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Current implementation filters after retrieval and before the LLM; index-level isolation is a future enhancement.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4 — RAG &amp; Evidence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Authorized evidence + question → Llama 3.2:3b through </a:t>
            </a:r>
            <a:r>
              <a:rPr sz="3200" b="0" dirty="0" err="1">
                <a:latin typeface="Calibri"/>
              </a:rPr>
              <a:t>Ollama</a:t>
            </a:r>
            <a:r>
              <a:rPr sz="3200" b="0" dirty="0">
                <a:latin typeface="Calibri"/>
              </a:rPr>
              <a:t> → generated answer → Evidence Checker.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The prompt requires use of retrieved evidence only. Unsupported claims cause the final response to become: “Insufficient evidence in the available documents.”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5 — </a:t>
            </a:r>
            <a:r>
              <a:rPr sz="3600" b="1" dirty="0" err="1">
                <a:solidFill>
                  <a:schemeClr val="accent5">
                    <a:lumMod val="50000"/>
                  </a:schemeClr>
                </a:solidFill>
                <a:latin typeface="Calibri"/>
              </a:rPr>
              <a:t>FastAPI</a:t>
            </a:r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&amp; </a:t>
            </a:r>
            <a:r>
              <a:rPr sz="3600" b="1" dirty="0" err="1">
                <a:solidFill>
                  <a:schemeClr val="accent5">
                    <a:lumMod val="50000"/>
                  </a:schemeClr>
                </a:solidFill>
                <a:latin typeface="Calibri"/>
              </a:rPr>
              <a:t>Streamlit</a:t>
            </a:r>
            <a:endParaRPr sz="36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 err="1">
                <a:latin typeface="Calibri"/>
              </a:rPr>
              <a:t>FastAPI</a:t>
            </a:r>
            <a:r>
              <a:rPr sz="3200" b="0" dirty="0">
                <a:latin typeface="Calibri"/>
              </a:rPr>
              <a:t> endpoints: GET /, GET /health, POST /query.</a:t>
            </a:r>
            <a:br>
              <a:rPr sz="3200" dirty="0"/>
            </a:br>
            <a:br>
              <a:rPr sz="3200" dirty="0"/>
            </a:br>
            <a:r>
              <a:rPr sz="3200" b="0" dirty="0" err="1">
                <a:latin typeface="Calibri"/>
              </a:rPr>
              <a:t>Streamlit</a:t>
            </a:r>
            <a:r>
              <a:rPr sz="3200" b="0" dirty="0">
                <a:latin typeface="Calibri"/>
              </a:rPr>
              <a:t> provides role selection, question input, answer, verification status, confidence and sources. The dashboard communicates with </a:t>
            </a:r>
            <a:r>
              <a:rPr sz="3200" b="0" dirty="0" err="1">
                <a:latin typeface="Calibri"/>
              </a:rPr>
              <a:t>FastAPI</a:t>
            </a:r>
            <a:r>
              <a:rPr sz="2600" b="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6 — Testing, Evaluation &amp;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Current 8-question retrieval evaluation:</a:t>
            </a:r>
            <a:br>
              <a:rPr sz="3200" dirty="0"/>
            </a:br>
            <a:r>
              <a:rPr sz="3200" b="0" dirty="0">
                <a:latin typeface="Calibri"/>
              </a:rPr>
              <a:t>• BM25 Recall@3 = 75%</a:t>
            </a:r>
            <a:br>
              <a:rPr sz="3200" dirty="0"/>
            </a:br>
            <a:r>
              <a:rPr sz="3200" b="0" dirty="0">
                <a:latin typeface="Calibri"/>
              </a:rPr>
              <a:t>• Vector Retrieval Recall@3 = 100%</a:t>
            </a:r>
            <a:br>
              <a:rPr sz="3200" dirty="0"/>
            </a:br>
            <a:r>
              <a:rPr sz="3200" b="0" dirty="0">
                <a:latin typeface="Calibri"/>
              </a:rPr>
              <a:t>• Hybrid Recall@3 = 100%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Security tests: unauthorized WFH blocked; authorized employee access allowed; public documents accessible.</a:t>
            </a:r>
            <a:br>
              <a:rPr sz="3200" dirty="0"/>
            </a:br>
            <a:r>
              <a:rPr sz="3200" b="0" dirty="0">
                <a:latin typeface="Calibri"/>
              </a:rPr>
              <a:t>14 automated tests passed. Docker containerization and API testing completed.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Question → BM25 + FAISS → Hybrid Fusion → Role Filter → </a:t>
            </a:r>
            <a:r>
              <a:rPr sz="3200" b="0" dirty="0" err="1">
                <a:latin typeface="Calibri"/>
              </a:rPr>
              <a:t>Rerank</a:t>
            </a:r>
            <a:r>
              <a:rPr sz="3200" b="0" dirty="0">
                <a:latin typeface="Calibri"/>
              </a:rPr>
              <a:t> → Evidence → Llama 3.2 → Evidence Checker → Verified Answer + Sources → </a:t>
            </a:r>
            <a:r>
              <a:rPr sz="3200" b="0" dirty="0" err="1">
                <a:latin typeface="Calibri"/>
              </a:rPr>
              <a:t>FastAPI</a:t>
            </a:r>
            <a:r>
              <a:rPr sz="3200" b="0" dirty="0">
                <a:latin typeface="Calibri"/>
              </a:rPr>
              <a:t> → </a:t>
            </a:r>
            <a:r>
              <a:rPr sz="3200" b="0" dirty="0" err="1">
                <a:latin typeface="Calibri"/>
              </a:rPr>
              <a:t>Streamlit</a:t>
            </a:r>
            <a:r>
              <a:rPr sz="3200" b="0" dirty="0">
                <a:latin typeface="Calibri"/>
              </a:rPr>
              <a:t> → Docker → CI/CD (next stage)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1861850"/>
            <a:ext cx="114281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3200" b="1" dirty="0">
                <a:solidFill>
                  <a:schemeClr val="bg1"/>
                </a:solidFill>
                <a:latin typeface="Calibri"/>
              </a:rPr>
              <a:t>Agentic AI-Based Data Centre Cooling Optimization and Thermal Anomaly Management System</a:t>
            </a: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endParaRPr lang="en-IN" sz="3200" b="1" dirty="0">
              <a:solidFill>
                <a:schemeClr val="bg1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1F2937"/>
                </a:solidFill>
                <a:latin typeface="Calibri"/>
              </a:defRPr>
            </a:pPr>
            <a:r>
              <a:rPr lang="en-IN" sz="3200" dirty="0">
                <a:solidFill>
                  <a:schemeClr val="bg1"/>
                </a:solidFill>
              </a:rPr>
              <a:t>Pokala Sushma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1F2937"/>
                </a:solidFill>
                <a:latin typeface="Calibri"/>
              </a:defRPr>
            </a:pPr>
            <a:r>
              <a:rPr lang="en-IN" sz="3200" dirty="0">
                <a:solidFill>
                  <a:schemeClr val="bg1"/>
                </a:solidFill>
              </a:rPr>
              <a:t>T9936</a:t>
            </a:r>
            <a:endParaRPr sz="32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2df091ecb8634d7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0270B3-61CD-E75B-6927-CC1AE1FC96F5}"/>
              </a:ext>
            </a:extLst>
          </p:cNvPr>
          <p:cNvPicPr>
            <a:picLocks noChangeAspect="1"/>
          </p:cNvPicPr>
          <p:nvPr/>
        </p:nvPicPr>
        <p:blipFill>
          <a:blip r:embed="R8f1a273986c0479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69" y="5842487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Data centers require continuous thermal monitoring as workload and heat generation vary.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The system combines prediction, anomaly detection, diagnosis and cooling optimization.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A single Agentic AI layer coordinates specialized tools and generates an explainable recommendation.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PoC uses synthetic telemetry because a single suitable public rack-level dataset was not identified.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Predict future rack temperature and provide early thermal warning.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Detect unusual telemetry patterns and classify severity.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Identify probable thermal root causes.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Recommend cooling actions considering thermal safety and energy impact.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Provide explainable AI recommendation to a human operator.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Telemetry simulation, validation, preprocessing and feature engineering.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XGBoost</a:t>
            </a:r>
            <a:r>
              <a:rPr sz="3200" b="0" dirty="0"/>
              <a:t> prediction and Isolation Forest anomaly detection.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Root-cause diagnosis and cooling optimization.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Single local Agentic AI, </a:t>
            </a:r>
            <a:r>
              <a:rPr sz="3200" b="0" dirty="0" err="1"/>
              <a:t>FastAPI</a:t>
            </a:r>
            <a:r>
              <a:rPr sz="3200" b="0" dirty="0"/>
              <a:t>, </a:t>
            </a:r>
            <a:r>
              <a:rPr sz="3200" b="0" dirty="0" err="1"/>
              <a:t>Streamlit</a:t>
            </a:r>
            <a:r>
              <a:rPr sz="3200" b="0" dirty="0"/>
              <a:t> and Docker.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Automated testing and GitHub Actions CI.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Out of scope: direct physical cooling control, confidential L&amp;T data and production-scale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Reviewed data-center thermal management and temperature prediction.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Reviewed ML approaches for infrastructure anomaly detection.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Reviewed energy-aware cooling optimization and AI decision-support.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Thermal behavior depends on multiple interacting telemetry variables.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Positioning: integrate prediction, detection, diagnosis and optimization in one decision-support layer.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Prediction provides early indication of thermal risk.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Unsupervised anomaly detection identifies unusual telemetry patterns.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Cooling decisions should balance thermal safety and cooling effort.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No single public dataset meeting required rack-level coverage and granularity was identified.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Controlled synthetic telemetry enables reproducible normal and abnormal scenarios.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Dataset: 5 racks × 500 records = 2,500 synthetic records.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Temperature prediction: MAE ≈ 0.097°C; RMSE ≈ 0.173°C.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Isolation Forest: 245 anomalies among 2,450 evaluated records.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Tool test: 30.5°C → 33.51°C predicted → high anomaly → reduced airflow → Cooling +15%.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Application: </a:t>
            </a:r>
            <a:r>
              <a:rPr sz="3200" b="0" dirty="0" err="1"/>
              <a:t>FastAPI</a:t>
            </a:r>
            <a:r>
              <a:rPr sz="3200" b="0" dirty="0"/>
              <a:t> + </a:t>
            </a:r>
            <a:r>
              <a:rPr sz="3200" b="0" dirty="0" err="1"/>
              <a:t>Streamlit</a:t>
            </a:r>
            <a:r>
              <a:rPr sz="3200" b="0" dirty="0"/>
              <a:t> + Docker.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CI: automated tests, ML artifact generation and Docker build validation.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124338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1 – Data Pipeline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Telemetry simulator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Dataset validation, preprocessing and feature engineering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2 – Intelligence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</a:t>
            </a:r>
            <a:r>
              <a:rPr sz="3200" b="0" dirty="0" err="1"/>
              <a:t>XGBoost</a:t>
            </a:r>
            <a:r>
              <a:rPr sz="3200" b="0" dirty="0"/>
              <a:t> temperature prediction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Isolation Forest anomaly detection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Root-cause analysis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Cooling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416" y="1314906"/>
            <a:ext cx="5181600" cy="4351338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endParaRPr dirty="0"/>
          </a:p>
          <a:p>
            <a:pPr marL="0" indent="0"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/>
              <a:t>Single Agentic AI: decision-support layer orchestrates specialized ML and optimization tools.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/>
              <a:t>Llama 3.2:3b through </a:t>
            </a:r>
            <a:r>
              <a:rPr sz="3800" b="0" dirty="0" err="1"/>
              <a:t>Ollama</a:t>
            </a:r>
            <a:r>
              <a:rPr sz="3800" b="0" dirty="0"/>
              <a:t> for explanations.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 err="1"/>
              <a:t>FastAPI</a:t>
            </a:r>
            <a:r>
              <a:rPr sz="3800" b="0" dirty="0"/>
              <a:t> + </a:t>
            </a:r>
            <a:r>
              <a:rPr sz="3800" b="0" dirty="0" err="1"/>
              <a:t>Uvicorn</a:t>
            </a:r>
            <a:r>
              <a:rPr sz="3800" b="0" dirty="0"/>
              <a:t>: REST service.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 err="1"/>
              <a:t>Streamlit</a:t>
            </a:r>
            <a:r>
              <a:rPr sz="3800" b="0" dirty="0"/>
              <a:t>: operator dashboard and human approval.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/>
              <a:t>Docker + Compose: reproducible services.</a:t>
            </a:r>
          </a:p>
          <a:p>
            <a:pPr marL="0" indent="0"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endParaRPr sz="2400" b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787190-2266-CA1A-44C4-9A0D34037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7829" y="1594385"/>
            <a:ext cx="5181600" cy="4351338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lang="en-IN" sz="3600" dirty="0" err="1">
                <a:latin typeface="Calibri (Body)"/>
              </a:rPr>
              <a:t>PyTest</a:t>
            </a:r>
            <a:r>
              <a:rPr lang="en-IN" sz="3600" dirty="0">
                <a:latin typeface="Calibri (Body)"/>
              </a:rPr>
              <a:t>: automated tests.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lang="en-IN" sz="3600" dirty="0">
                <a:latin typeface="Calibri (Body)"/>
              </a:rPr>
              <a:t>GitHub Actions: CI with data/model generation, tests and Docker build.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lang="en-IN" sz="3600" dirty="0">
                <a:latin typeface="Calibri (Body)"/>
              </a:rPr>
              <a:t>Next: PostgreSQL/</a:t>
            </a:r>
            <a:r>
              <a:rPr lang="en-IN" sz="3600" dirty="0" err="1">
                <a:latin typeface="Calibri (Body)"/>
              </a:rPr>
              <a:t>TimescaleDB</a:t>
            </a:r>
            <a:r>
              <a:rPr lang="en-IN" sz="3600" dirty="0">
                <a:latin typeface="Calibri (Body)"/>
              </a:rPr>
              <a:t> and CD/deployment.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t>Module 3 – Agentic AI, API, Dashboard &amp; CI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874</Words>
  <Application>Microsoft Office PowerPoint</Application>
  <PresentationFormat>Widescreen</PresentationFormat>
  <Paragraphs>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Pokala Sushma</lastModifiedBy>
  <revision>11</revision>
  <dcterms:created xsi:type="dcterms:W3CDTF">2024-05-13T10:33:11.0000000Z</dcterms:created>
  <dcterms:modified xsi:type="dcterms:W3CDTF">2026-10-06T03:23:12.7950000Z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