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c640a6d221d46b8" /><Relationship Type="http://schemas.openxmlformats.org/package/2006/relationships/metadata/core-properties" Target="/docProps/core.xml" Id="Re69536e49b1445f0" /><Relationship Type="http://schemas.openxmlformats.org/officeDocument/2006/relationships/extended-properties" Target="/docProps/app.xml" Id="R131e0561a9b649ed" /><Relationship Type="http://schemas.openxmlformats.org/officeDocument/2006/relationships/custom-properties" Target="/docProps/custom.xml" Id="R68b86172a12a400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6ccf34f2f5cb45ad"/>
  </p:sldMasterIdLst>
  <p:sldIdLst>
    <p:sldId id="256" r:id="R1f766cec3441464c"/>
    <p:sldId id="257" r:id="R75e7a53959674cad"/>
    <p:sldId id="258" r:id="R64c5a679d9a74ef0"/>
    <p:sldId id="259" r:id="R6e021dda2e2a43b0"/>
    <p:sldId id="260" r:id="R3235eb9db8d54c44"/>
    <p:sldId id="261" r:id="R31d81994d7164eb7"/>
    <p:sldId id="262" r:id="R607b72f05c8e4b2e"/>
    <p:sldId id="263" r:id="Rffab1aac43364e26"/>
    <p:sldId id="264" r:id="R9782e78c12924ba2"/>
    <p:sldId id="265" r:id="R7bd27fda74484170"/>
    <p:sldId id="266" r:id="Rfcfdbde4ed9a46b2"/>
    <p:sldId id="267" r:id="Ra38bc4eceed74cdc"/>
    <p:sldId id="268" r:id="R74a5fab4bf464fb2"/>
    <p:sldId id="269" r:id="R70a1a31533c34ed2"/>
    <p:sldId id="270" r:id="Red33f409903842ea"/>
    <p:sldId id="271" r:id="R5dc3359c6c09472f"/>
    <p:sldId id="272" r:id="R2e26eaac62f64f34"/>
    <p:sldId id="273" r:id="R95b43618225c49a8"/>
    <p:sldId id="274" r:id="R71e1c21f02a943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02" autoAdjust="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da9456028734236" /><Relationship Type="http://schemas.openxmlformats.org/officeDocument/2006/relationships/viewProps" Target="/ppt/viewProps.xml" Id="Rbf8fcc190fab43c0" /><Relationship Type="http://schemas.openxmlformats.org/officeDocument/2006/relationships/slideMaster" Target="/ppt/slideMasters/slideMaster1.xml" Id="R6ccf34f2f5cb45ad" /><Relationship Type="http://schemas.openxmlformats.org/officeDocument/2006/relationships/theme" Target="/ppt/slideMasters/theme/theme1.xml" Id="R0738bd7088bb4008" /><Relationship Type="http://schemas.openxmlformats.org/officeDocument/2006/relationships/slide" Target="/ppt/slides/slide1.xml" Id="R1f766cec3441464c" /><Relationship Type="http://schemas.openxmlformats.org/officeDocument/2006/relationships/slide" Target="/ppt/slides/slide2.xml" Id="R75e7a53959674cad" /><Relationship Type="http://schemas.openxmlformats.org/officeDocument/2006/relationships/slide" Target="/ppt/slides/slide3.xml" Id="R64c5a679d9a74ef0" /><Relationship Type="http://schemas.openxmlformats.org/officeDocument/2006/relationships/slide" Target="/ppt/slides/slide4.xml" Id="R6e021dda2e2a43b0" /><Relationship Type="http://schemas.openxmlformats.org/officeDocument/2006/relationships/slide" Target="/ppt/slides/slide5.xml" Id="R3235eb9db8d54c44" /><Relationship Type="http://schemas.openxmlformats.org/officeDocument/2006/relationships/slide" Target="/ppt/slides/slide6.xml" Id="R31d81994d7164eb7" /><Relationship Type="http://schemas.openxmlformats.org/officeDocument/2006/relationships/slide" Target="/ppt/slides/slide7.xml" Id="R607b72f05c8e4b2e" /><Relationship Type="http://schemas.openxmlformats.org/officeDocument/2006/relationships/slide" Target="/ppt/slides/slide8.xml" Id="Rffab1aac43364e26" /><Relationship Type="http://schemas.openxmlformats.org/officeDocument/2006/relationships/slide" Target="/ppt/slides/slide9.xml" Id="R9782e78c12924ba2" /><Relationship Type="http://schemas.openxmlformats.org/officeDocument/2006/relationships/slide" Target="/ppt/slides/slide10.xml" Id="R7bd27fda74484170" /><Relationship Type="http://schemas.openxmlformats.org/officeDocument/2006/relationships/slide" Target="/ppt/slides/slide11.xml" Id="Rfcfdbde4ed9a46b2" /><Relationship Type="http://schemas.openxmlformats.org/officeDocument/2006/relationships/slide" Target="/ppt/slides/slide12.xml" Id="Ra38bc4eceed74cdc" /><Relationship Type="http://schemas.openxmlformats.org/officeDocument/2006/relationships/slide" Target="/ppt/slides/slide13.xml" Id="R74a5fab4bf464fb2" /><Relationship Type="http://schemas.openxmlformats.org/officeDocument/2006/relationships/slide" Target="/ppt/slides/slide14.xml" Id="R70a1a31533c34ed2" /><Relationship Type="http://schemas.openxmlformats.org/officeDocument/2006/relationships/slide" Target="/ppt/slides/slide15.xml" Id="Red33f409903842ea" /><Relationship Type="http://schemas.openxmlformats.org/officeDocument/2006/relationships/slide" Target="/ppt/slides/slide16.xml" Id="R5dc3359c6c09472f" /><Relationship Type="http://schemas.openxmlformats.org/officeDocument/2006/relationships/slide" Target="/ppt/slides/slide17.xml" Id="R2e26eaac62f64f34" /><Relationship Type="http://schemas.openxmlformats.org/officeDocument/2006/relationships/slide" Target="/ppt/slides/slide18.xml" Id="R95b43618225c49a8" /><Relationship Type="http://schemas.openxmlformats.org/officeDocument/2006/relationships/slide" Target="/ppt/slides/slide19.xml" Id="R71e1c21f02a943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abde771b748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7414ffa9e4c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5c9ac7a6a446f" /></Relationships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cbc604ab3fc4be8" /><Relationship Type="http://schemas.openxmlformats.org/officeDocument/2006/relationships/image" Target="/ppt/media/image2.png" Id="Rd0871bb9e9a4441b" /><Relationship Type="http://schemas.openxmlformats.org/officeDocument/2006/relationships/image" Target="/ppt/media/image3.png" Id="Rf45124952d1448b0" /><Relationship Type="http://schemas.microsoft.com/office/2007/relationships/hdphoto" Target="/ppt/slideMasters/udata/data.wdp" Id="R04b2418ba6a2441d" /><Relationship Type="http://schemas.microsoft.com/office/2007/relationships/hdphoto" Target="/ppt/slideMasters/udata/data2.wdp" Id="Re3df282f4a6840c7" /><Relationship Type="http://schemas.openxmlformats.org/officeDocument/2006/relationships/theme" Target="/ppt/slideMasters/theme/theme1.xml" Id="R153de3805722440f" /><Relationship Type="http://schemas.openxmlformats.org/officeDocument/2006/relationships/slideLayout" Target="/ppt/slideLayouts/slideLayout4.xml" Id="R7e39b7e7c4e04cfa" /><Relationship Type="http://schemas.openxmlformats.org/officeDocument/2006/relationships/slideLayout" Target="/ppt/slideLayouts/slideLayout5.xml" Id="Ref9e99ac83bc4a4b" /><Relationship Type="http://schemas.openxmlformats.org/officeDocument/2006/relationships/slideLayout" Target="/ppt/slideLayouts/slideLayout12.xml" Id="R847cd34192ed4607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1cbc604ab3fc4be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d0871bb9e9a4441b">
            <a:extLst>
              <a:ext uri="{BEBA8EAE-BF5A-486C-A8C5-ECC9F3942E4B}">
                <a14:imgProps xmlns:a14="http://schemas.microsoft.com/office/drawing/2010/main">
                  <a14:imgLayer r:embed="R04b2418ba6a2441d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f45124952d1448b0">
            <a:extLst>
              <a:ext uri="{BEBA8EAE-BF5A-486C-A8C5-ECC9F3942E4B}">
                <a14:imgProps xmlns:a14="http://schemas.microsoft.com/office/drawing/2010/main">
                  <a14:imgLayer r:embed="Re3df282f4a6840c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7e39b7e7c4e04cfa"/>
    <p:sldLayoutId id="2147483653" r:id="Ref9e99ac83bc4a4b"/>
    <p:sldLayoutId id="2147483660" r:id="R847cd34192ed460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90e9d42e9e7f4922" /><Relationship Type="http://schemas.openxmlformats.org/officeDocument/2006/relationships/image" Target="/ppt/media/image5.png" Id="Rc82057b887ea4d61" /><Relationship Type="http://schemas.openxmlformats.org/officeDocument/2006/relationships/slideLayout" Target="/ppt/slideLayouts/slideLayout5.xml" Id="Rb095d6084f7a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162d1fac3c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ced221561f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fee9d25fd045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13239f40de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183c0f27d3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a9418655da47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418c8e1de5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0d4e0df887649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32cab40c6574a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.png" Id="R1cee503f5e064e78" /><Relationship Type="http://schemas.openxmlformats.org/officeDocument/2006/relationships/image" Target="/ppt/media/image5.png" Id="R4a10fb66258f4a44" /><Relationship Type="http://schemas.openxmlformats.org/officeDocument/2006/relationships/slideLayout" Target="/ppt/slideLayouts/slideLayout5.xml" Id="Re693900fe3e3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5bc781cdd941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f50c6b7fb04d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b4a55f69a84e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0d99e1c5324b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37c295721e45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b03b379e564d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47a7d9df2047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69a7dc3aef49f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33042"/>
              </p:ext>
            </p:extLst>
          </p:nvPr>
        </p:nvGraphicFramePr>
        <p:xfrm>
          <a:off x="0" y="5225583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90e9d42e9e7f492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918" y="1746075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Adaptive Enterprise Knowledge Assistant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</a:rPr>
              <a:t>using Hybrid RAG, Role-Aware Retrieval and Hallucination Detection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5504" y="1120307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Review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824" y="316507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Team Member: </a:t>
            </a:r>
            <a:r>
              <a:rPr lang="en-GB"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Pokala </a:t>
            </a: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Sushma</a:t>
            </a:r>
            <a:endParaRPr lang="en-GB" sz="24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T9936</a:t>
            </a: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endParaRPr lang="en-GB" sz="24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57120-4C23-B097-AD91-A6C60E652269}"/>
              </a:ext>
            </a:extLst>
          </p:cNvPr>
          <p:cNvPicPr>
            <a:picLocks noChangeAspect="1"/>
          </p:cNvPicPr>
          <p:nvPr/>
        </p:nvPicPr>
        <p:blipFill>
          <a:blip r:embed="Rc82057b887ea4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8203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8663" y="545425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663" y="1592943"/>
            <a:ext cx="106070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Problem</a:t>
            </a:r>
            <a:r>
              <a:rPr sz="2800" b="1" dirty="0">
                <a:latin typeface="Calibri"/>
              </a:rPr>
              <a:t>: </a:t>
            </a:r>
            <a:r>
              <a:rPr sz="2800" b="0" dirty="0">
                <a:latin typeface="Calibri"/>
              </a:rPr>
              <a:t>enterprise knowledge is distributed across policies and technical documents. Manual search is slow, while a normal LLM may hallucinate or expose information outside a user's role.</a:t>
            </a:r>
            <a:br>
              <a:rPr dirty="0"/>
            </a:br>
            <a:br>
              <a:rPr dirty="0"/>
            </a:br>
            <a:r>
              <a:rPr sz="28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Solution</a:t>
            </a:r>
            <a:r>
              <a:rPr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: </a:t>
            </a:r>
            <a:r>
              <a:rPr sz="2800" b="0" dirty="0">
                <a:latin typeface="Calibri"/>
              </a:rPr>
              <a:t>an evidence-grounded enterprise assistant using Hybrid RAG, role-aware retrieval and post-generation evidence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7229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Improve retrieval coverage using BM25 + semantic vector search.</a:t>
            </a:r>
            <a:br>
              <a:rPr dirty="0"/>
            </a:br>
            <a:r>
              <a:rPr sz="2800" b="0" dirty="0">
                <a:latin typeface="Calibri"/>
              </a:rPr>
              <a:t>• Respect user-role access before sending context to the LLM.</a:t>
            </a:r>
            <a:br>
              <a:rPr dirty="0"/>
            </a:br>
            <a:r>
              <a:rPr sz="2800" b="0" dirty="0">
                <a:latin typeface="Calibri"/>
              </a:rPr>
              <a:t>• Generate answers grounded only in retrieved evidence.</a:t>
            </a:r>
            <a:br>
              <a:rPr dirty="0"/>
            </a:br>
            <a:r>
              <a:rPr sz="2800" b="0" dirty="0">
                <a:latin typeface="Calibri"/>
              </a:rPr>
              <a:t>• Detect unsupported claims and return an insufficient-evidence response.</a:t>
            </a:r>
            <a:br>
              <a:rPr dirty="0"/>
            </a:br>
            <a:r>
              <a:rPr sz="2800" b="0" dirty="0">
                <a:latin typeface="Calibri"/>
              </a:rPr>
              <a:t>• Deliver the system through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and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Package the application with Docker.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2104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743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1. Document ingestion and metadata extraction</a:t>
            </a:r>
            <a:br>
              <a:rPr dirty="0"/>
            </a:br>
            <a:r>
              <a:rPr sz="2800" b="0" dirty="0">
                <a:latin typeface="Calibri"/>
              </a:rPr>
              <a:t>2. Chunking and preprocessing</a:t>
            </a:r>
            <a:br>
              <a:rPr dirty="0"/>
            </a:br>
            <a:r>
              <a:rPr sz="2800" b="0" dirty="0">
                <a:latin typeface="Calibri"/>
              </a:rPr>
              <a:t>3. BM25 keyword retrieval</a:t>
            </a:r>
            <a:br>
              <a:rPr dirty="0"/>
            </a:br>
            <a:r>
              <a:rPr sz="2800" b="0" dirty="0">
                <a:latin typeface="Calibri"/>
              </a:rPr>
              <a:t>4. FAISS vector retrieval with Nomic embeddings</a:t>
            </a:r>
            <a:br>
              <a:rPr dirty="0"/>
            </a:br>
            <a:r>
              <a:rPr sz="2800" b="0" dirty="0">
                <a:latin typeface="Calibri"/>
              </a:rPr>
              <a:t>5. Hybrid score fusion</a:t>
            </a:r>
            <a:br>
              <a:rPr dirty="0"/>
            </a:br>
            <a:r>
              <a:rPr sz="2800" b="0" dirty="0">
                <a:latin typeface="Calibri"/>
              </a:rPr>
              <a:t>6. Role filtering and reranking</a:t>
            </a:r>
            <a:br>
              <a:rPr dirty="0"/>
            </a:br>
            <a:r>
              <a:rPr sz="2800" b="0" dirty="0">
                <a:latin typeface="Calibri"/>
              </a:rPr>
              <a:t>7. Llama 3.2 RAG generation</a:t>
            </a:r>
            <a:br>
              <a:rPr dirty="0"/>
            </a:br>
            <a:r>
              <a:rPr sz="2800" b="0" dirty="0">
                <a:latin typeface="Calibri"/>
              </a:rPr>
              <a:t>8. Evidence verification</a:t>
            </a:r>
            <a:br>
              <a:rPr dirty="0"/>
            </a:br>
            <a:r>
              <a:rPr sz="2800" b="0" dirty="0">
                <a:latin typeface="Calibri"/>
              </a:rPr>
              <a:t>9.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+ </a:t>
            </a:r>
            <a:r>
              <a:rPr sz="2800" b="0" dirty="0" err="1">
                <a:latin typeface="Calibri"/>
              </a:rPr>
              <a:t>Streamlit</a:t>
            </a:r>
            <a:br>
              <a:rPr dirty="0"/>
            </a:br>
            <a:r>
              <a:rPr sz="2800" b="0" dirty="0">
                <a:latin typeface="Calibri"/>
              </a:rPr>
              <a:t>10. Evaluation and </a:t>
            </a:r>
            <a:r>
              <a:rPr sz="2800" b="0" dirty="0" err="1">
                <a:latin typeface="Calibri"/>
              </a:rPr>
              <a:t>Dockerization</a:t>
            </a:r>
            <a:endParaRPr sz="2800" b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Methodology / Modeling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Documents → extraction → metadata → chunking → dual retrieval → hybrid fusion → role filtering → reranking → LLM generation → evidence verification → verified answer + sources.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7229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Data Preprocessing &amp;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85109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14 files: 3 synthetic TXT + 11 public PDFs.</a:t>
            </a:r>
            <a:br>
              <a:rPr dirty="0"/>
            </a:br>
            <a:r>
              <a:rPr sz="2800" b="0" dirty="0">
                <a:latin typeface="Calibri"/>
              </a:rPr>
              <a:t>83 non-empty records/pages extracted.</a:t>
            </a:r>
            <a:br>
              <a:rPr dirty="0"/>
            </a:br>
            <a:r>
              <a:rPr sz="2800" b="0" dirty="0">
                <a:latin typeface="Calibri"/>
              </a:rPr>
              <a:t>404 chunks generated using 500-character chunks and 100-character overlap.</a:t>
            </a:r>
            <a:br>
              <a:rPr dirty="0"/>
            </a:br>
            <a:r>
              <a:rPr sz="2800" b="0" dirty="0">
                <a:latin typeface="Calibri"/>
              </a:rPr>
              <a:t>398 public chunks + 6 restricted chunks.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Each chunk retains source, organization, document type, page number, access type and allowed roles.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Approach / Algorithms /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Python 3.11 | </a:t>
            </a:r>
            <a:r>
              <a:rPr sz="2800" b="0" dirty="0" err="1">
                <a:latin typeface="Calibri"/>
              </a:rPr>
              <a:t>LangChain</a:t>
            </a:r>
            <a:r>
              <a:rPr sz="2800" b="0" dirty="0">
                <a:latin typeface="Calibri"/>
              </a:rPr>
              <a:t> | </a:t>
            </a:r>
            <a:r>
              <a:rPr sz="2800" b="0" dirty="0" err="1">
                <a:latin typeface="Calibri"/>
              </a:rPr>
              <a:t>Ollama</a:t>
            </a:r>
            <a:br>
              <a:rPr dirty="0"/>
            </a:br>
            <a:r>
              <a:rPr sz="2800" b="0" dirty="0">
                <a:latin typeface="Calibri"/>
              </a:rPr>
              <a:t>LLM: Llama 3.2:3b</a:t>
            </a:r>
            <a:br>
              <a:rPr dirty="0"/>
            </a:br>
            <a:r>
              <a:rPr sz="2800" b="0" dirty="0">
                <a:latin typeface="Calibri"/>
              </a:rPr>
              <a:t>Embedding: nomic-embed-text</a:t>
            </a:r>
            <a:br>
              <a:rPr dirty="0"/>
            </a:br>
            <a:r>
              <a:rPr sz="2800" b="0" dirty="0">
                <a:latin typeface="Calibri"/>
              </a:rPr>
              <a:t>Vector search: FAISS</a:t>
            </a:r>
            <a:br>
              <a:rPr dirty="0"/>
            </a:br>
            <a:r>
              <a:rPr sz="2800" b="0" dirty="0">
                <a:latin typeface="Calibri"/>
              </a:rPr>
              <a:t>Keyword retrieval: BM25</a:t>
            </a:r>
            <a:br>
              <a:rPr dirty="0"/>
            </a:br>
            <a:r>
              <a:rPr sz="2800" b="0" dirty="0">
                <a:latin typeface="Calibri"/>
              </a:rPr>
              <a:t>Reranking: custom score-based </a:t>
            </a:r>
            <a:r>
              <a:rPr sz="2800" b="0" dirty="0" err="1">
                <a:latin typeface="Calibri"/>
              </a:rPr>
              <a:t>reranker</a:t>
            </a:r>
            <a:br>
              <a:rPr dirty="0"/>
            </a:br>
            <a:r>
              <a:rPr sz="2800" b="0" dirty="0">
                <a:latin typeface="Calibri"/>
              </a:rPr>
              <a:t>Verification: custom Evidence Checker</a:t>
            </a:r>
            <a:br>
              <a:rPr dirty="0"/>
            </a:br>
            <a:r>
              <a:rPr sz="2800" b="0" dirty="0">
                <a:latin typeface="Calibri"/>
              </a:rPr>
              <a:t>Backend: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| Frontend: </a:t>
            </a:r>
            <a:r>
              <a:rPr sz="2800" b="0" dirty="0" err="1">
                <a:latin typeface="Calibri"/>
              </a:rPr>
              <a:t>Streamlit</a:t>
            </a:r>
            <a:br>
              <a:rPr dirty="0"/>
            </a:br>
            <a:r>
              <a:rPr sz="2800" b="0" dirty="0">
                <a:latin typeface="Calibri"/>
              </a:rPr>
              <a:t>Testing: </a:t>
            </a:r>
            <a:r>
              <a:rPr sz="2800" b="0" dirty="0" err="1">
                <a:latin typeface="Calibri"/>
              </a:rPr>
              <a:t>PyTest</a:t>
            </a:r>
            <a:r>
              <a:rPr sz="2800" b="0" dirty="0">
                <a:latin typeface="Calibri"/>
              </a:rPr>
              <a:t> | Container: Docker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Plan / Milestones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49835"/>
            <a:ext cx="1078992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COMPLETED</a:t>
            </a:r>
            <a:r>
              <a:rPr lang="en-GB"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                                                                     </a:t>
            </a:r>
            <a:br>
              <a:rPr dirty="0"/>
            </a:br>
            <a:r>
              <a:rPr sz="2800" b="0" dirty="0">
                <a:latin typeface="Calibri"/>
              </a:rPr>
              <a:t>✓ Ingestion &amp; preprocessing</a:t>
            </a:r>
            <a:br>
              <a:rPr dirty="0"/>
            </a:br>
            <a:r>
              <a:rPr sz="2800" b="0" dirty="0">
                <a:latin typeface="Calibri"/>
              </a:rPr>
              <a:t>✓ Hybrid retrieval</a:t>
            </a:r>
            <a:br>
              <a:rPr dirty="0"/>
            </a:br>
            <a:r>
              <a:rPr sz="2800" b="0" dirty="0">
                <a:latin typeface="Calibri"/>
              </a:rPr>
              <a:t>✓ Role-aware filtering</a:t>
            </a:r>
            <a:br>
              <a:rPr dirty="0"/>
            </a:br>
            <a:r>
              <a:rPr sz="2800" b="0" dirty="0">
                <a:latin typeface="Calibri"/>
              </a:rPr>
              <a:t>✓ Reranking</a:t>
            </a:r>
            <a:br>
              <a:rPr dirty="0"/>
            </a:br>
            <a:r>
              <a:rPr sz="2800" b="0" dirty="0">
                <a:latin typeface="Calibri"/>
              </a:rPr>
              <a:t>✓ RAG generation</a:t>
            </a:r>
            <a:br>
              <a:rPr dirty="0"/>
            </a:br>
            <a:r>
              <a:rPr sz="2800" b="0" dirty="0">
                <a:latin typeface="Calibri"/>
              </a:rPr>
              <a:t>✓ Evidence verification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FastAPI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 dashboard</a:t>
            </a:r>
            <a:br>
              <a:rPr dirty="0"/>
            </a:br>
            <a:r>
              <a:rPr sz="2800" b="0" dirty="0">
                <a:latin typeface="Calibri"/>
              </a:rPr>
              <a:t>✓ Evaluation/testing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Dockerization</a:t>
            </a:r>
            <a:br>
              <a:rPr dirty="0"/>
            </a:br>
            <a:br>
              <a:rPr sz="1600" dirty="0"/>
            </a:br>
            <a:endParaRPr sz="2400" b="0" dirty="0">
              <a:latin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62403-BBB1-D7EB-F4E7-6E7C47173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3857" y="139859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NEXT</a:t>
            </a:r>
            <a:br>
              <a:rPr lang="en-GB" sz="1800" dirty="0"/>
            </a:br>
            <a:r>
              <a:rPr lang="en-GB" dirty="0"/>
              <a:t>→ GitHub Actions CI/CD</a:t>
            </a:r>
            <a:br>
              <a:rPr lang="en-GB" sz="1800" dirty="0"/>
            </a:br>
            <a:r>
              <a:rPr lang="en-GB" dirty="0"/>
              <a:t>→ GHCR image publishing / deployment stage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Current 8-question retrieval evaluation:</a:t>
            </a:r>
            <a:br>
              <a:rPr dirty="0"/>
            </a:br>
            <a:r>
              <a:rPr sz="2800" b="0" dirty="0">
                <a:latin typeface="Calibri"/>
              </a:rPr>
              <a:t>• BM25 Recall@3 = 75%</a:t>
            </a:r>
            <a:br>
              <a:rPr dirty="0"/>
            </a:br>
            <a:r>
              <a:rPr sz="2800" b="0" dirty="0">
                <a:latin typeface="Calibri"/>
              </a:rPr>
              <a:t>• Vector Retrieval Recall@3 = 100%</a:t>
            </a:r>
            <a:br>
              <a:rPr dirty="0"/>
            </a:br>
            <a:r>
              <a:rPr sz="2800" b="0" dirty="0">
                <a:latin typeface="Calibri"/>
              </a:rPr>
              <a:t>• Hybrid Retrieval Recall@3 = 100%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Evidence tests covered supported answers, unsupported numeric claims and insufficient-evidence cases.</a:t>
            </a:r>
            <a:br>
              <a:rPr dirty="0"/>
            </a:br>
            <a:r>
              <a:rPr sz="2800" b="0" dirty="0">
                <a:latin typeface="Calibri"/>
              </a:rPr>
              <a:t>Security tests confirmed unauthorized WFH access is blocked, authorized access works, and public documents remain accessible.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9261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Implementation &amp; Deployment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/health and /query are working.</a:t>
            </a:r>
            <a:br>
              <a:rPr dirty="0"/>
            </a:br>
            <a:r>
              <a:rPr sz="2800" b="0" dirty="0">
                <a:latin typeface="Calibri"/>
              </a:rPr>
              <a:t>•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 dashboard is connected and displays answers, verification, confidence and sources.</a:t>
            </a:r>
            <a:br>
              <a:rPr dirty="0"/>
            </a:br>
            <a:r>
              <a:rPr sz="2800" b="0" dirty="0">
                <a:latin typeface="Calibri"/>
              </a:rPr>
              <a:t>• Docker image/container were successfully tested.</a:t>
            </a:r>
            <a:br>
              <a:rPr dirty="0"/>
            </a:br>
            <a:r>
              <a:rPr sz="2800" b="0" dirty="0">
                <a:latin typeface="Calibri"/>
              </a:rPr>
              <a:t>• 14 automated tests passed.</a:t>
            </a:r>
            <a:br>
              <a:rPr dirty="0"/>
            </a:br>
            <a:r>
              <a:rPr sz="2800" b="0" dirty="0">
                <a:latin typeface="Calibri"/>
              </a:rPr>
              <a:t>• CI/CD has not yet been implemented and is the next stage.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Review II</a:t>
            </a:r>
            <a:endParaRPr lang="en-GB" dirty="0">
              <a:solidFill>
                <a:schemeClr val="bg1"/>
              </a:solidFill>
            </a:endParaRP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3600" b="1" dirty="0">
                <a:solidFill>
                  <a:schemeClr val="bg1"/>
                </a:solidFill>
                <a:latin typeface="Calibri"/>
              </a:rPr>
              <a:t>Agentic AI-Based Data Centre Cooling Optimization and Thermal Anomaly Management System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endParaRPr lang="en-IN" sz="3600" b="1" dirty="0">
              <a:solidFill>
                <a:schemeClr val="bg1"/>
              </a:solidFill>
              <a:latin typeface="Calibri"/>
            </a:endParaRP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2800" b="1" dirty="0">
                <a:solidFill>
                  <a:schemeClr val="bg1"/>
                </a:solidFill>
                <a:latin typeface="Calibri"/>
              </a:rPr>
              <a:t>Pokala Sushma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2800" b="1" dirty="0">
                <a:solidFill>
                  <a:schemeClr val="bg1"/>
                </a:solidFill>
                <a:latin typeface="Calibri"/>
              </a:rPr>
              <a:t>T9936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endParaRPr lang="en-GB" dirty="0">
              <a:solidFill>
                <a:schemeClr val="bg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1cee503f5e064e78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FF91DE-9573-9F83-9A7A-C10D04375AD1}"/>
              </a:ext>
            </a:extLst>
          </p:cNvPr>
          <p:cNvPicPr>
            <a:picLocks noChangeAspect="1"/>
          </p:cNvPicPr>
          <p:nvPr/>
        </p:nvPicPr>
        <p:blipFill>
          <a:blip r:embed="R4a10fb66258f4a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33" y="5817058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Data centers generate heat as workload changes.</a:t>
            </a:r>
            <a:endParaRPr lang="en-US" sz="3200" b="0" dirty="0">
              <a:solidFill>
                <a:srgbClr val="5583D1"/>
              </a:solidFill>
              <a:latin typeface="Calibri (Body)"/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Thermal conditions depend on workload, power, airflow, fan behavior, ambient temperature and cooling load.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AI-assisted thermal monitoring, anomaly detection and cooling decision support.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Proof-of-concept using controlled synthetic telemetry.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Predict future rack temperature.</a:t>
            </a:r>
            <a:endParaRPr lang="en-US" sz="3200" b="0" dirty="0">
              <a:solidFill>
                <a:srgbClr val="5583D1"/>
              </a:solidFill>
              <a:latin typeface="Calibri (Body)"/>
              <a:ea typeface="Calibri" panose="020F0502020204030204" pitchFamily="34" charset="0"/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Detect abnormal thermal behavior using unsupervised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Identify probable causes of thermal anomalies.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Recommend energy-aware cooling actions.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Single Agentic AI layer orchestrates analysis and explains recommendations.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Operator dashboard with human approval.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1 – Data Pipeline: simulation, validation, preprocessing and feature engineering.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2 – Intelligence: </a:t>
            </a:r>
            <a:r>
              <a:rPr sz="3200" b="0" dirty="0" err="1"/>
              <a:t>XGBoost</a:t>
            </a:r>
            <a:r>
              <a:rPr sz="3200" b="0" dirty="0"/>
              <a:t>, Isolation Forest, root-cause analysis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3 – Agentic AI &amp; Application: local Llama, </a:t>
            </a:r>
            <a:r>
              <a:rPr sz="3200" b="0" dirty="0" err="1"/>
              <a:t>FastAPI</a:t>
            </a:r>
            <a:r>
              <a:rPr sz="3200" b="0" dirty="0"/>
              <a:t>, </a:t>
            </a:r>
            <a:r>
              <a:rPr sz="3200" b="0" dirty="0" err="1"/>
              <a:t>Streamlit</a:t>
            </a:r>
            <a:r>
              <a:rPr sz="3200" b="0" dirty="0"/>
              <a:t>, Docker and CI.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Out of scope: direct physical cooling control and confidential L&amp;T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Scope / Modules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Synthetic Telemetry → Validation → Preprocessing→ Temperature Prediction → Anomaly Detection→ Root Cause → Cooling Optimization→ Single Agentic AI → Explainable Recommendation→ Human Approval → </a:t>
            </a:r>
            <a:r>
              <a:rPr sz="3200" b="0" dirty="0" err="1"/>
              <a:t>FastAPI</a:t>
            </a:r>
            <a:r>
              <a:rPr sz="3200" b="0" dirty="0"/>
              <a:t> → </a:t>
            </a:r>
            <a:r>
              <a:rPr sz="3200" b="0" dirty="0" err="1"/>
              <a:t>Streamlit</a:t>
            </a:r>
            <a:r>
              <a:rPr sz="3200" b="0" dirty="0"/>
              <a:t> </a:t>
            </a:r>
            <a:r>
              <a:rPr sz="3200" b="0" dirty="0" err="1"/>
              <a:t>XGBoost</a:t>
            </a:r>
            <a:r>
              <a:rPr sz="3200" b="0" dirty="0"/>
              <a:t> Regressor; Isolation Forest + </a:t>
            </a:r>
            <a:r>
              <a:rPr sz="3200" b="0" dirty="0" err="1"/>
              <a:t>StandardScaler</a:t>
            </a:r>
            <a:r>
              <a:rPr sz="3200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5 racks × 500 records = 2,500 records.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Telemetry: temperature, CPU/GPU utilization, power, fan speed, airflow, humidity, cooling load and ambient temperature.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Scenarios: normal, high workload, fan failure, reduced airflow and cooling reduction.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Preprocessing: timestamps, sorting, duplicates, missing values and feature engineering.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Derived features: total workload, heat load, temperature change, workload change and future temperature target.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Python 3.11 | Pandas | NumPy | Scikit-learn | </a:t>
            </a:r>
            <a:r>
              <a:rPr sz="3200" b="0" dirty="0" err="1"/>
              <a:t>XGBoost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XGBoost</a:t>
            </a:r>
            <a:r>
              <a:rPr sz="3200" b="0" dirty="0"/>
              <a:t> – temperature prediction.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Isolation Forest – anomaly detection.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Rule-based logic – root cause.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Cooling optimizer – safety/energy-aware recommendation.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LangChain</a:t>
            </a:r>
            <a:r>
              <a:rPr sz="3200" b="0" dirty="0"/>
              <a:t> + </a:t>
            </a:r>
            <a:r>
              <a:rPr sz="3200" b="0" dirty="0" err="1"/>
              <a:t>Ollama</a:t>
            </a:r>
            <a:r>
              <a:rPr sz="3200" b="0" dirty="0"/>
              <a:t> + Llama 3.2:3b – Agentic AI explanation.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FastAPI</a:t>
            </a:r>
            <a:r>
              <a:rPr sz="3200" b="0" dirty="0"/>
              <a:t> + </a:t>
            </a:r>
            <a:r>
              <a:rPr sz="3200" b="0" dirty="0" err="1"/>
              <a:t>Uvicorn</a:t>
            </a:r>
            <a:r>
              <a:rPr sz="3200" b="0" dirty="0"/>
              <a:t> | </a:t>
            </a:r>
            <a:r>
              <a:rPr sz="3200" b="0" dirty="0" err="1"/>
              <a:t>Streamlit</a:t>
            </a:r>
            <a:r>
              <a:rPr sz="3200" b="0" dirty="0"/>
              <a:t> | </a:t>
            </a:r>
            <a:r>
              <a:rPr sz="3200" b="0" dirty="0" err="1"/>
              <a:t>PyTest</a:t>
            </a:r>
            <a:r>
              <a:rPr sz="3200" b="0" dirty="0"/>
              <a:t> | Docker | GitHub Actions.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02875" y="502545"/>
            <a:ext cx="10730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4906"/>
            <a:ext cx="5181600" cy="4351338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Telemetry simulator and validation</a:t>
            </a:r>
            <a:endParaRPr lang="en-US" sz="3200" b="0" dirty="0">
              <a:solidFill>
                <a:srgbClr val="5583D1"/>
              </a:solidFill>
            </a:endParaRP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Preprocessing and feature engineering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Temperature prediction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Anomaly detection and root-cause analysis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Cooling optimization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844F07-FF4F-78FB-0CA2-2259D788F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9438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Single Agentic AI + local Llama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</a:t>
            </a:r>
            <a:r>
              <a:rPr lang="en-IN" sz="3200" dirty="0" err="1"/>
              <a:t>FastAPI</a:t>
            </a:r>
            <a:r>
              <a:rPr lang="en-IN" sz="3200" dirty="0"/>
              <a:t> + </a:t>
            </a:r>
            <a:r>
              <a:rPr lang="en-IN" sz="3200" dirty="0" err="1"/>
              <a:t>Streamlit</a:t>
            </a:r>
            <a:endParaRPr lang="en-IN" sz="3200" dirty="0"/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Docker + automated tests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GitHub Actions CI + Docker build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b="1" dirty="0"/>
              <a:t>NEXT </a:t>
            </a:r>
            <a:r>
              <a:rPr lang="en-IN" sz="3200" dirty="0"/>
              <a:t>→ Database integration, CD/deployment, final validation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Synthetic Data Center Telemetry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Preprocessing &amp; Feature Engineering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</a:t>
            </a:r>
            <a:r>
              <a:rPr sz="3200" b="0" dirty="0" err="1"/>
              <a:t>XGBoost</a:t>
            </a:r>
            <a:r>
              <a:rPr sz="3200" b="0" dirty="0"/>
              <a:t> Prediction + Isolation Forest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Root Cause + Cooling Optimization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Single Agentic AI + Llama 3.2:3b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Human Approval → </a:t>
            </a:r>
            <a:r>
              <a:rPr sz="3200" b="0" dirty="0" err="1"/>
              <a:t>FastAPI</a:t>
            </a:r>
            <a:r>
              <a:rPr sz="3200" b="0" dirty="0"/>
              <a:t> → </a:t>
            </a:r>
            <a:r>
              <a:rPr sz="3200" b="0" dirty="0" err="1"/>
              <a:t>Streamlit</a:t>
            </a:r>
            <a:endParaRPr sz="3200" b="0" dirty="0"/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Docker + </a:t>
            </a:r>
            <a:r>
              <a:rPr sz="3200" b="0" dirty="0" err="1"/>
              <a:t>PyTest</a:t>
            </a:r>
            <a:r>
              <a:rPr sz="3200" b="0" dirty="0"/>
              <a:t> + GitHub Actions CI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560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13</revision>
  <dcterms:created xsi:type="dcterms:W3CDTF">2024-05-13T10:33:11.0000000Z</dcterms:created>
  <dcterms:modified xsi:type="dcterms:W3CDTF">2026-10-06T03:24:46.7890000Z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